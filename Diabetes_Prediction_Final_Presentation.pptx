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presenting our Data Science project on Diabetes Risk Prediction. We have developed a complete machine learning pipeline combining clinical biomarker analysis, model benchmarking, and an interactive decision support dashboard.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Diabetes is known as a silent killer because microvascular damage occurs long before formal diagnosis. Our objective is to build an automated, accessible system that detects early indicators using standard clinic measurements.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utilized the benchmark Pima Indians Diabetes Dataset with 768 samples. The dataset includes standard markers like glucose, insulin, BMI, and genetic pedigree. The 65 to 35 class distribution requires stratified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that nearly half the insulin readings were zero. These are missing data points, not true zeroes. We resolved this by class-stratified median imputation rather than dropping rows, retaining our full cohort.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formulating the Glucose-to-Insulin ratio and BMI-Age interaction term, we supplied our models with direct representations of metabolic stress, boosting cross-validated classification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three diverse algorithmic paradigms: a linear logistic classifier, a bagging ensemble in Random Forest, and gradient boosting with XGBoost. This guaranteed a fair and thorough benchmark.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our held-out test cohort of 154 samples, XGBoost achieved an ROC-AUC of 0.8226 and an accuracy of 76.62%, outperforming both baseline logistic regression and random forest across discrimination metrics.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healthcare, interpretability is vital. Our tree-based importance rankings confirmed that Glucose and BMI account for almost half the model's decisions, aligning directly with established medical consensus.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actual deployed web platform running on localhost. It features executive summary cards, full EDA galleries, model benchmark comparisons, and smooth tabbed transitions.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interactive simulator module. Clinicians can adjust patient indicators in real time or select pre-configured clinical profiles, seeing risk probability and triage advice calculated instantly.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bridges machine learning with actionable clinical triage. In the future, we look forward to integrating SHAP local explanations and connecting with hospital EHR systems. Thank you for your time, and we welcome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97280"/>
            <a:ext cx="5943600" cy="4572000"/>
          </a:xfrm>
          <a:prstGeom prst="rect">
            <a:avLst/>
          </a:prstGeom>
          <a:noFill/>
        </p:spPr>
        <p:txBody>
          <a:bodyPr wrap="square">
            <a:spAutoFit/>
          </a:bodyPr>
          <a:lstStyle/>
          <a:p>
            <a:pPr>
              <a:spcAft>
                <a:spcPts val="1400"/>
              </a:spcAft>
              <a:defRPr sz="1200" b="1">
                <a:solidFill>
                  <a:srgbClr val="14B8A6"/>
                </a:solidFill>
              </a:defRPr>
            </a:pPr>
            <a:r>
              <a:t>HEALTHCARE AI &amp; DATA SCIENCE</a:t>
            </a:r>
          </a:p>
          <a:p>
            <a:pPr>
              <a:spcAft>
                <a:spcPts val="1200"/>
              </a:spcAft>
              <a:defRPr sz="3600" b="1">
                <a:solidFill>
                  <a:srgbClr val="FFFFFF"/>
                </a:solidFill>
              </a:defRPr>
            </a:pPr>
            <a:r>
              <a:t>Diabetes Risk Prediction System</a:t>
            </a:r>
          </a:p>
          <a:p>
            <a:pPr>
              <a:spcAft>
                <a:spcPts val="2800"/>
              </a:spcAft>
              <a:defRPr sz="1500">
                <a:solidFill>
                  <a:srgbClr val="CBD5E1"/>
                </a:solidFill>
              </a:defRPr>
            </a:pPr>
            <a:r>
              <a:t>An End-to-End Machine Learning Pipeline, Clinical Biomarker Analysis &amp; Live Interactive Decision Support Dashboard</a:t>
            </a:r>
          </a:p>
          <a:p>
            <a:pPr>
              <a:defRPr sz="1200">
                <a:solidFill>
                  <a:srgbClr val="94A3B8"/>
                </a:solidFill>
              </a:defRPr>
            </a:pPr>
            <a:r>
              <a:t>Presented by: Data Science Project Team</a:t>
            </a:r>
            <a:br/>
            <a:r>
              <a:t>Tech Stack: Python 3.13 | Scikit-Learn | XGBoost | Vanilla JS | HTML5</a:t>
            </a:r>
          </a:p>
        </p:txBody>
      </p:sp>
      <p:sp>
        <p:nvSpPr>
          <p:cNvPr id="4" name="Rounded Rectangle 3"/>
          <p:cNvSpPr/>
          <p:nvPr/>
        </p:nvSpPr>
        <p:spPr>
          <a:xfrm>
            <a:off x="6949440" y="1097280"/>
            <a:ext cx="429768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1_website_hero_overview.png"/>
          <p:cNvPicPr>
            <a:picLocks noChangeAspect="1"/>
          </p:cNvPicPr>
          <p:nvPr/>
        </p:nvPicPr>
        <p:blipFill>
          <a:blip r:embed="rId2"/>
          <a:stretch>
            <a:fillRect/>
          </a:stretch>
        </p:blipFill>
        <p:spPr>
          <a:xfrm>
            <a:off x="7086600" y="1280160"/>
            <a:ext cx="4023360" cy="1911096"/>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Clinical Problem Statement &amp; Global Motivation</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33832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3017520" cy="1828800"/>
          </a:xfrm>
          <a:prstGeom prst="rect">
            <a:avLst/>
          </a:prstGeom>
          <a:noFill/>
        </p:spPr>
        <p:txBody>
          <a:bodyPr wrap="square">
            <a:spAutoFit/>
          </a:bodyPr>
          <a:lstStyle/>
          <a:p>
            <a:pPr>
              <a:spcAft>
                <a:spcPts val="600"/>
              </a:spcAft>
              <a:defRPr sz="2800" b="1">
                <a:solidFill>
                  <a:srgbClr val="0EA5E9"/>
                </a:solidFill>
              </a:defRPr>
            </a:pPr>
            <a:r>
              <a:t>537 Million</a:t>
            </a:r>
          </a:p>
          <a:p>
            <a:pPr>
              <a:spcAft>
                <a:spcPts val="600"/>
              </a:spcAft>
              <a:defRPr sz="1300" b="1">
                <a:solidFill>
                  <a:srgbClr val="0F172A"/>
                </a:solidFill>
              </a:defRPr>
            </a:pPr>
            <a:r>
              <a:t>Global Adult Prevalence</a:t>
            </a:r>
          </a:p>
          <a:p>
            <a:pPr>
              <a:defRPr sz="1050">
                <a:solidFill>
                  <a:srgbClr val="64748B"/>
                </a:solidFill>
              </a:defRPr>
            </a:pPr>
            <a:r>
              <a:t>1 in 10 adults worldwide live with diabetes; expected to hit 783M by 2045.</a:t>
            </a:r>
          </a:p>
        </p:txBody>
      </p:sp>
      <p:sp>
        <p:nvSpPr>
          <p:cNvPr id="7" name="Rounded Rectangle 6"/>
          <p:cNvSpPr/>
          <p:nvPr/>
        </p:nvSpPr>
        <p:spPr>
          <a:xfrm>
            <a:off x="4389120" y="1554480"/>
            <a:ext cx="33832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45920"/>
            <a:ext cx="3017520" cy="1828800"/>
          </a:xfrm>
          <a:prstGeom prst="rect">
            <a:avLst/>
          </a:prstGeom>
          <a:noFill/>
        </p:spPr>
        <p:txBody>
          <a:bodyPr wrap="square">
            <a:spAutoFit/>
          </a:bodyPr>
          <a:lstStyle/>
          <a:p>
            <a:pPr>
              <a:spcAft>
                <a:spcPts val="600"/>
              </a:spcAft>
              <a:defRPr sz="2800" b="1">
                <a:solidFill>
                  <a:srgbClr val="F59E0B"/>
                </a:solidFill>
              </a:defRPr>
            </a:pPr>
            <a:r>
              <a:t>44.7%</a:t>
            </a:r>
          </a:p>
          <a:p>
            <a:pPr>
              <a:spcAft>
                <a:spcPts val="600"/>
              </a:spcAft>
              <a:defRPr sz="1300" b="1">
                <a:solidFill>
                  <a:srgbClr val="0F172A"/>
                </a:solidFill>
              </a:defRPr>
            </a:pPr>
            <a:r>
              <a:t>Undiagnosed Cases</a:t>
            </a:r>
          </a:p>
          <a:p>
            <a:pPr>
              <a:defRPr sz="1050">
                <a:solidFill>
                  <a:srgbClr val="64748B"/>
                </a:solidFill>
              </a:defRPr>
            </a:pPr>
            <a:r>
              <a:t>Nearly half of all patients are unaware they have diabetes until complications arise.</a:t>
            </a:r>
          </a:p>
        </p:txBody>
      </p:sp>
      <p:sp>
        <p:nvSpPr>
          <p:cNvPr id="9" name="Rounded Rectangle 8"/>
          <p:cNvSpPr/>
          <p:nvPr/>
        </p:nvSpPr>
        <p:spPr>
          <a:xfrm>
            <a:off x="8046720" y="1554480"/>
            <a:ext cx="3383280" cy="2011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45920"/>
            <a:ext cx="3017520" cy="1828800"/>
          </a:xfrm>
          <a:prstGeom prst="rect">
            <a:avLst/>
          </a:prstGeom>
          <a:noFill/>
        </p:spPr>
        <p:txBody>
          <a:bodyPr wrap="square">
            <a:spAutoFit/>
          </a:bodyPr>
          <a:lstStyle/>
          <a:p>
            <a:pPr>
              <a:spcAft>
                <a:spcPts val="600"/>
              </a:spcAft>
              <a:defRPr sz="2800" b="1">
                <a:solidFill>
                  <a:srgbClr val="10B981"/>
                </a:solidFill>
              </a:defRPr>
            </a:pPr>
            <a:r>
              <a:t>0.82+ AUC</a:t>
            </a:r>
          </a:p>
          <a:p>
            <a:pPr>
              <a:spcAft>
                <a:spcPts val="600"/>
              </a:spcAft>
              <a:defRPr sz="1300" b="1">
                <a:solidFill>
                  <a:srgbClr val="0F172A"/>
                </a:solidFill>
              </a:defRPr>
            </a:pPr>
            <a:r>
              <a:t>Our ML Target</a:t>
            </a:r>
          </a:p>
          <a:p>
            <a:pPr>
              <a:defRPr sz="1050">
                <a:solidFill>
                  <a:srgbClr val="64748B"/>
                </a:solidFill>
              </a:defRPr>
            </a:pPr>
            <a:r>
              <a:t>Deliver high-sensitivity early triage using accessible non-invasive biometric tests.</a:t>
            </a:r>
          </a:p>
        </p:txBody>
      </p:sp>
      <p:sp>
        <p:nvSpPr>
          <p:cNvPr id="11" name="Rounded Rectangle 10"/>
          <p:cNvSpPr/>
          <p:nvPr/>
        </p:nvSpPr>
        <p:spPr>
          <a:xfrm>
            <a:off x="731520" y="3840480"/>
            <a:ext cx="10728655" cy="2468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977639"/>
            <a:ext cx="10149840" cy="2194560"/>
          </a:xfrm>
          <a:prstGeom prst="rect">
            <a:avLst/>
          </a:prstGeom>
          <a:noFill/>
        </p:spPr>
        <p:txBody>
          <a:bodyPr wrap="square">
            <a:spAutoFit/>
          </a:bodyPr>
          <a:lstStyle/>
          <a:p>
            <a:pPr>
              <a:spcAft>
                <a:spcPts val="1000"/>
              </a:spcAft>
              <a:defRPr sz="1500" b="1">
                <a:solidFill>
                  <a:srgbClr val="0F172A"/>
                </a:solidFill>
              </a:defRPr>
            </a:pPr>
            <a:r>
              <a:t>Key Project Objectives &amp; Healthcare Rationale</a:t>
            </a:r>
          </a:p>
          <a:p>
            <a:pPr>
              <a:spcAft>
                <a:spcPts val="400"/>
              </a:spcAft>
              <a:defRPr sz="1100">
                <a:solidFill>
                  <a:srgbClr val="64748B"/>
                </a:solidFill>
              </a:defRPr>
            </a:pPr>
            <a:r>
              <a:t>• Traditional Clinical Delays: Standard lab diagnosis requires extensive blood draws and lab processing, causing patients to miss critical early intervention windows.</a:t>
            </a:r>
          </a:p>
          <a:p>
            <a:pPr>
              <a:spcAft>
                <a:spcPts val="400"/>
              </a:spcAft>
              <a:defRPr sz="1100">
                <a:solidFill>
                  <a:srgbClr val="64748B"/>
                </a:solidFill>
              </a:defRPr>
            </a:pPr>
            <a:r>
              <a:t>• Proactive Stratification: By training ML classifiers on non-invasive physiological features, primary clinics can triage high-risk patients in minutes.</a:t>
            </a:r>
          </a:p>
          <a:p>
            <a:pPr>
              <a:spcAft>
                <a:spcPts val="400"/>
              </a:spcAft>
              <a:defRPr sz="1100">
                <a:solidFill>
                  <a:srgbClr val="64748B"/>
                </a:solidFill>
              </a:defRPr>
            </a:pPr>
            <a:r>
              <a:t>• Optimizing for Sensitivity: In clinical screening, false negatives carry catastrophic risks (unmanaged vascular deterioration); hence models must balance accuracy with high recall.</a:t>
            </a:r>
          </a:p>
          <a:p>
            <a:pPr>
              <a:spcAft>
                <a:spcPts val="400"/>
              </a:spcAft>
              <a:defRPr sz="1100">
                <a:solidFill>
                  <a:srgbClr val="64748B"/>
                </a:solidFill>
              </a:defRPr>
            </a:pPr>
            <a:r>
              <a:t>• Explainable Predictions: Enable healthcare practitioners to understand the biometric rationale behind every individual risk score.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Dataset Exploration &amp; Clinical Attributes</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4864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5120640" cy="4389120"/>
          </a:xfrm>
          <a:prstGeom prst="rect">
            <a:avLst/>
          </a:prstGeom>
          <a:noFill/>
        </p:spPr>
        <p:txBody>
          <a:bodyPr wrap="square">
            <a:spAutoFit/>
          </a:bodyPr>
          <a:lstStyle/>
          <a:p>
            <a:pPr>
              <a:spcAft>
                <a:spcPts val="800"/>
              </a:spcAft>
              <a:defRPr sz="1500" b="1">
                <a:solidFill>
                  <a:srgbClr val="0F172A"/>
                </a:solidFill>
              </a:defRPr>
            </a:pPr>
            <a:r>
              <a:t>Pima Indians Diabetes Database Overview</a:t>
            </a:r>
          </a:p>
          <a:p>
            <a:pPr>
              <a:spcAft>
                <a:spcPts val="400"/>
              </a:spcAft>
              <a:defRPr sz="1100">
                <a:solidFill>
                  <a:srgbClr val="64748B"/>
                </a:solidFill>
              </a:defRPr>
            </a:pPr>
            <a:r>
              <a:t>• Dataset Source: National Institute of Diabetes and Digestive and Kidney Diseases (NIDDK).</a:t>
            </a:r>
          </a:p>
          <a:p>
            <a:pPr>
              <a:spcAft>
                <a:spcPts val="400"/>
              </a:spcAft>
              <a:defRPr sz="1100">
                <a:solidFill>
                  <a:srgbClr val="64748B"/>
                </a:solidFill>
              </a:defRPr>
            </a:pPr>
            <a:r>
              <a:t>• Sample Size: 768 total records with 8 diagnostic biomarker predictors.</a:t>
            </a:r>
          </a:p>
          <a:p>
            <a:pPr>
              <a:spcAft>
                <a:spcPts val="400"/>
              </a:spcAft>
              <a:defRPr sz="1100">
                <a:solidFill>
                  <a:srgbClr val="64748B"/>
                </a:solidFill>
              </a:defRPr>
            </a:pPr>
            <a:r>
              <a:t>• Target Variable: Binary classification (0 = Non-Diabetic, 1 = Diabetic).</a:t>
            </a:r>
          </a:p>
          <a:p>
            <a:pPr>
              <a:spcAft>
                <a:spcPts val="400"/>
              </a:spcAft>
              <a:defRPr sz="1100">
                <a:solidFill>
                  <a:srgbClr val="64748B"/>
                </a:solidFill>
              </a:defRPr>
            </a:pPr>
            <a:r>
              <a:t>• Class Balance: 500 Healthy (65.1%) vs 268 Diabetic (34.9%). Moderately imbalanced, requiring stratified sampling.</a:t>
            </a:r>
          </a:p>
          <a:p>
            <a:pPr>
              <a:spcAft>
                <a:spcPts val="400"/>
              </a:spcAft>
              <a:defRPr sz="1100">
                <a:solidFill>
                  <a:srgbClr val="64748B"/>
                </a:solidFill>
              </a:defRPr>
            </a:pPr>
            <a:r>
              <a:t>• Clinical Predictors Evaluated:</a:t>
            </a:r>
            <a:br/>
            <a:r>
              <a:t>  1. Pregnancies (fertility history)</a:t>
            </a:r>
            <a:br/>
            <a:r>
              <a:t>  2. Glucose (plasma glucose concentration)</a:t>
            </a:r>
            <a:br/>
            <a:r>
              <a:t>  3. BloodPressure (diastolic mm Hg)</a:t>
            </a:r>
            <a:br/>
            <a:r>
              <a:t>  4. SkinThickness (triceps fold mm)</a:t>
            </a:r>
            <a:br/>
            <a:r>
              <a:t>  5. Insulin (2h serum insulin μU/ml)</a:t>
            </a:r>
            <a:br/>
            <a:r>
              <a:t>  6. BMI (weight/height²)</a:t>
            </a:r>
            <a:br/>
            <a:r>
              <a:t>  7. DiabetesPedigreeFunction (family genetic score)</a:t>
            </a:r>
            <a:br/>
            <a:r>
              <a:t>  8. Age (years)</a:t>
            </a:r>
          </a:p>
        </p:txBody>
      </p:sp>
      <p:sp>
        <p:nvSpPr>
          <p:cNvPr id="7" name="Rounded Rectangle 6"/>
          <p:cNvSpPr/>
          <p:nvPr/>
        </p:nvSpPr>
        <p:spPr>
          <a:xfrm>
            <a:off x="6492240" y="1554480"/>
            <a:ext cx="49377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4_eda_comparison_plots.png"/>
          <p:cNvPicPr>
            <a:picLocks noChangeAspect="1"/>
          </p:cNvPicPr>
          <p:nvPr/>
        </p:nvPicPr>
        <p:blipFill>
          <a:blip r:embed="rId2"/>
          <a:stretch>
            <a:fillRect/>
          </a:stretch>
        </p:blipFill>
        <p:spPr>
          <a:xfrm>
            <a:off x="6675120" y="1737360"/>
            <a:ext cx="4572000" cy="21717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Data Cleaning: Resolving 'Biological Zeros'</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754880" cy="4389120"/>
          </a:xfrm>
          <a:prstGeom prst="rect">
            <a:avLst/>
          </a:prstGeom>
          <a:noFill/>
        </p:spPr>
        <p:txBody>
          <a:bodyPr wrap="square">
            <a:spAutoFit/>
          </a:bodyPr>
          <a:lstStyle/>
          <a:p>
            <a:pPr>
              <a:spcAft>
                <a:spcPts val="800"/>
              </a:spcAft>
              <a:defRPr sz="1500" b="1">
                <a:solidFill>
                  <a:srgbClr val="0F172A"/>
                </a:solidFill>
              </a:defRPr>
            </a:pPr>
            <a:r>
              <a:t>The Biological Zero Challenge</a:t>
            </a:r>
          </a:p>
          <a:p>
            <a:pPr>
              <a:spcAft>
                <a:spcPts val="500"/>
              </a:spcAft>
              <a:defRPr sz="1100">
                <a:solidFill>
                  <a:srgbClr val="64748B"/>
                </a:solidFill>
              </a:defRPr>
            </a:pPr>
            <a:r>
              <a:t>• Impossible Physiological Zeros: In human subjects, zero values for Glucose, Blood Pressure, Skin Thickness, and Insulin are biologically impossible.</a:t>
            </a:r>
          </a:p>
          <a:p>
            <a:pPr>
              <a:spcAft>
                <a:spcPts val="500"/>
              </a:spcAft>
              <a:defRPr sz="1100">
                <a:solidFill>
                  <a:srgbClr val="64748B"/>
                </a:solidFill>
              </a:defRPr>
            </a:pPr>
            <a:r>
              <a:t>• Missingness Breakdown in Raw Data:</a:t>
            </a:r>
            <a:br/>
            <a:r>
              <a:t>  • Insulin: 374 missing (48.7%)</a:t>
            </a:r>
            <a:br/>
            <a:r>
              <a:t>  • SkinThickness: 227 missing (29.6%)</a:t>
            </a:r>
            <a:br/>
            <a:r>
              <a:t>  • BloodPressure: 35 missing (4.6%)</a:t>
            </a:r>
            <a:br/>
            <a:r>
              <a:t>  • BMI: 11 missing (1.4%)</a:t>
            </a:r>
            <a:br/>
            <a:r>
              <a:t>  • Glucose: 5 missing (0.7%)</a:t>
            </a:r>
          </a:p>
          <a:p>
            <a:pPr>
              <a:spcAft>
                <a:spcPts val="500"/>
              </a:spcAft>
              <a:defRPr sz="1100">
                <a:solidFill>
                  <a:srgbClr val="64748B"/>
                </a:solidFill>
              </a:defRPr>
            </a:pPr>
            <a:r>
              <a:t>• Why Deletion Fails: Dropping all zero rows would eliminate nearly 50% of the dataset, severely crippling statistical power.</a:t>
            </a:r>
          </a:p>
          <a:p>
            <a:pPr>
              <a:spcAft>
                <a:spcPts val="500"/>
              </a:spcAft>
              <a:defRPr sz="1100">
                <a:solidFill>
                  <a:srgbClr val="64748B"/>
                </a:solidFill>
              </a:defRPr>
            </a:pPr>
            <a:r>
              <a:t>• Class-Stratified Median Imputation: Replaced zeros with NaN, then imputed each biomarker using median values conditioned on class outcome.</a:t>
            </a:r>
          </a:p>
          <a:p>
            <a:pPr>
              <a:spcAft>
                <a:spcPts val="500"/>
              </a:spcAft>
              <a:defRPr sz="1100">
                <a:solidFill>
                  <a:srgbClr val="64748B"/>
                </a:solidFill>
              </a:defRPr>
            </a:pPr>
            <a:r>
              <a:t>• StandardScaler Normalization: Rescaled features to mean=0, std=1 to ensure linear and gradient-based models converge optimally.</a:t>
            </a:r>
          </a:p>
        </p:txBody>
      </p:sp>
      <p:sp>
        <p:nvSpPr>
          <p:cNvPr id="7" name="Rounded Rectangle 6"/>
          <p:cNvSpPr/>
          <p:nvPr/>
        </p:nvSpPr>
        <p:spPr>
          <a:xfrm>
            <a:off x="6126480" y="1554480"/>
            <a:ext cx="530352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754880" cy="4389120"/>
          </a:xfrm>
          <a:prstGeom prst="rect">
            <a:avLst/>
          </a:prstGeom>
          <a:noFill/>
        </p:spPr>
        <p:txBody>
          <a:bodyPr wrap="square">
            <a:spAutoFit/>
          </a:bodyPr>
          <a:lstStyle/>
          <a:p>
            <a:pPr>
              <a:spcAft>
                <a:spcPts val="1200"/>
              </a:spcAft>
              <a:defRPr sz="1500" b="1">
                <a:solidFill>
                  <a:srgbClr val="0EA5E9"/>
                </a:solidFill>
              </a:defRPr>
            </a:pPr>
            <a:r>
              <a:t>Data Pipeline Transformation Flow</a:t>
            </a:r>
          </a:p>
          <a:p>
            <a:pPr>
              <a:defRPr sz="1200" b="1">
                <a:solidFill>
                  <a:srgbClr val="0F172A"/>
                </a:solidFill>
              </a:defRPr>
            </a:pPr>
            <a:r>
              <a:t>✔ Step 1: Sanity Audit</a:t>
            </a:r>
          </a:p>
          <a:p>
            <a:pPr>
              <a:spcAft>
                <a:spcPts val="600"/>
              </a:spcAft>
              <a:defRPr sz="1050">
                <a:solidFill>
                  <a:srgbClr val="64748B"/>
                </a:solidFill>
              </a:defRPr>
            </a:pPr>
            <a:r>
              <a:t>    Scan all continuous variables for physiological boundary violations (zeros in vitals).</a:t>
            </a:r>
          </a:p>
          <a:p>
            <a:pPr>
              <a:defRPr sz="1200" b="1">
                <a:solidFill>
                  <a:srgbClr val="0F172A"/>
                </a:solidFill>
              </a:defRPr>
            </a:pPr>
            <a:r>
              <a:t>✔ Step 2: Null Masking</a:t>
            </a:r>
          </a:p>
          <a:p>
            <a:pPr>
              <a:spcAft>
                <a:spcPts val="600"/>
              </a:spcAft>
              <a:defRPr sz="1050">
                <a:solidFill>
                  <a:srgbClr val="64748B"/>
                </a:solidFill>
              </a:defRPr>
            </a:pPr>
            <a:r>
              <a:t>    Convert zeroes in Insulin, Glucose, BP, BMI, and SkinThickness into np.nan.</a:t>
            </a:r>
          </a:p>
          <a:p>
            <a:pPr>
              <a:defRPr sz="1200" b="1">
                <a:solidFill>
                  <a:srgbClr val="0F172A"/>
                </a:solidFill>
              </a:defRPr>
            </a:pPr>
            <a:r>
              <a:t>✔ Step 3: Robust Imputation</a:t>
            </a:r>
          </a:p>
          <a:p>
            <a:pPr>
              <a:spcAft>
                <a:spcPts val="600"/>
              </a:spcAft>
              <a:defRPr sz="1050">
                <a:solidFill>
                  <a:srgbClr val="64748B"/>
                </a:solidFill>
              </a:defRPr>
            </a:pPr>
            <a:r>
              <a:t>    Impute medians grouped by diabetic outcome to preserve target-correlated variances.</a:t>
            </a:r>
          </a:p>
          <a:p>
            <a:pPr>
              <a:defRPr sz="1200" b="1">
                <a:solidFill>
                  <a:srgbClr val="0F172A"/>
                </a:solidFill>
              </a:defRPr>
            </a:pPr>
            <a:r>
              <a:t>✔ Step 4: Outlier Treatment</a:t>
            </a:r>
          </a:p>
          <a:p>
            <a:pPr>
              <a:spcAft>
                <a:spcPts val="600"/>
              </a:spcAft>
              <a:defRPr sz="1050">
                <a:solidFill>
                  <a:srgbClr val="64748B"/>
                </a:solidFill>
              </a:defRPr>
            </a:pPr>
            <a:r>
              <a:t>    Inspect extreme IQR values to ensure synthetic artifacts are not injected.</a:t>
            </a:r>
          </a:p>
          <a:p>
            <a:pPr>
              <a:defRPr sz="1200" b="1">
                <a:solidFill>
                  <a:srgbClr val="0F172A"/>
                </a:solidFill>
              </a:defRPr>
            </a:pPr>
            <a:r>
              <a:t>✔ Step 5: Standard Scaling</a:t>
            </a:r>
          </a:p>
          <a:p>
            <a:pPr>
              <a:spcAft>
                <a:spcPts val="600"/>
              </a:spcAft>
              <a:defRPr sz="1050">
                <a:solidFill>
                  <a:srgbClr val="64748B"/>
                </a:solidFill>
              </a:defRPr>
            </a:pPr>
            <a:r>
              <a:t>    Z-score normalization applied across training and test splits without data leakage.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Domain-Driven Clinical Feature Engineering</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4864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5120640" cy="4389120"/>
          </a:xfrm>
          <a:prstGeom prst="rect">
            <a:avLst/>
          </a:prstGeom>
          <a:noFill/>
        </p:spPr>
        <p:txBody>
          <a:bodyPr wrap="square">
            <a:spAutoFit/>
          </a:bodyPr>
          <a:lstStyle/>
          <a:p>
            <a:pPr>
              <a:spcAft>
                <a:spcPts val="800"/>
              </a:spcAft>
              <a:defRPr sz="1500" b="1">
                <a:solidFill>
                  <a:srgbClr val="0F172A"/>
                </a:solidFill>
              </a:defRPr>
            </a:pPr>
            <a:r>
              <a:t>Engineered Clinical Interaction Features</a:t>
            </a:r>
          </a:p>
          <a:p>
            <a:pPr>
              <a:spcAft>
                <a:spcPts val="500"/>
              </a:spcAft>
              <a:defRPr sz="1100">
                <a:solidFill>
                  <a:srgbClr val="64748B"/>
                </a:solidFill>
              </a:defRPr>
            </a:pPr>
            <a:r>
              <a:t>• 1. Glucose-to-Insulin Ratio (Glucose_Insulin_Ratio):</a:t>
            </a:r>
            <a:br/>
            <a:r>
              <a:t>   Surrogate proxy for insulin resistance and pancreatic beta-cell strain. Elevated ratios strongly correlate with impaired glucose tolerance.</a:t>
            </a:r>
          </a:p>
          <a:p>
            <a:pPr>
              <a:spcAft>
                <a:spcPts val="500"/>
              </a:spcAft>
              <a:defRPr sz="1100">
                <a:solidFill>
                  <a:srgbClr val="64748B"/>
                </a:solidFill>
              </a:defRPr>
            </a:pPr>
            <a:r>
              <a:t>• 2. BMI × Age Product (BMI_Age_Product):</a:t>
            </a:r>
            <a:br/>
            <a:r>
              <a:t>   Captures cumulative lifetime metabolic stress. High BMI sustained over advanced age creates an exponential compounding risk of Type 2 diabetes.</a:t>
            </a:r>
          </a:p>
          <a:p>
            <a:pPr>
              <a:spcAft>
                <a:spcPts val="500"/>
              </a:spcAft>
              <a:defRPr sz="1100">
                <a:solidFill>
                  <a:srgbClr val="64748B"/>
                </a:solidFill>
              </a:defRPr>
            </a:pPr>
            <a:r>
              <a:t>• 3. Age Group Cohorts (Age_Group):</a:t>
            </a:r>
            <a:br/>
            <a:r>
              <a:t>   Binned non-linear age risks into clinically relevant brackets: Young (&lt;30), Middle-aged (30-50), and Senior (&gt;50).</a:t>
            </a:r>
          </a:p>
          <a:p>
            <a:pPr>
              <a:spcAft>
                <a:spcPts val="500"/>
              </a:spcAft>
              <a:defRPr sz="1100">
                <a:solidFill>
                  <a:srgbClr val="64748B"/>
                </a:solidFill>
              </a:defRPr>
            </a:pPr>
            <a:r>
              <a:t>• 4. Correlation Insights:</a:t>
            </a:r>
            <a:br/>
            <a:r>
              <a:t>   • Glucose had strongest individual correlation: r = 0.49</a:t>
            </a:r>
            <a:br/>
            <a:r>
              <a:t>   • BMI correlation: r = 0.31</a:t>
            </a:r>
            <a:br/>
            <a:r>
              <a:t>   • Age correlation: r = 0.24</a:t>
            </a:r>
          </a:p>
        </p:txBody>
      </p:sp>
      <p:sp>
        <p:nvSpPr>
          <p:cNvPr id="7" name="Rounded Rectangle 6"/>
          <p:cNvSpPr/>
          <p:nvPr/>
        </p:nvSpPr>
        <p:spPr>
          <a:xfrm>
            <a:off x="6492240" y="1554480"/>
            <a:ext cx="49377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4_eda_comparison_plots.png"/>
          <p:cNvPicPr>
            <a:picLocks noChangeAspect="1"/>
          </p:cNvPicPr>
          <p:nvPr/>
        </p:nvPicPr>
        <p:blipFill>
          <a:blip r:embed="rId2"/>
          <a:stretch>
            <a:fillRect/>
          </a:stretch>
        </p:blipFill>
        <p:spPr>
          <a:xfrm>
            <a:off x="6675120" y="1737360"/>
            <a:ext cx="4572000" cy="21717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Machine Learning Modeling Architecture</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338328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3017520" cy="3657600"/>
          </a:xfrm>
          <a:prstGeom prst="rect">
            <a:avLst/>
          </a:prstGeom>
          <a:noFill/>
        </p:spPr>
        <p:txBody>
          <a:bodyPr wrap="square">
            <a:spAutoFit/>
          </a:bodyPr>
          <a:lstStyle/>
          <a:p>
            <a:pPr>
              <a:defRPr sz="1600" b="1">
                <a:solidFill>
                  <a:srgbClr val="0EA5E9"/>
                </a:solidFill>
              </a:defRPr>
            </a:pPr>
            <a:r>
              <a:t>Logistic Regression</a:t>
            </a:r>
          </a:p>
          <a:p>
            <a:pPr>
              <a:spcAft>
                <a:spcPts val="1000"/>
              </a:spcAft>
              <a:defRPr sz="1100">
                <a:solidFill>
                  <a:srgbClr val="64748B"/>
                </a:solidFill>
              </a:defRPr>
            </a:pPr>
            <a:r>
              <a:t>Linear Baseline</a:t>
            </a:r>
          </a:p>
          <a:p>
            <a:pPr>
              <a:spcAft>
                <a:spcPts val="400"/>
              </a:spcAft>
              <a:defRPr sz="1100">
                <a:solidFill>
                  <a:srgbClr val="0F172A"/>
                </a:solidFill>
              </a:defRPr>
            </a:pPr>
            <a:r>
              <a:t>• Log-odds probabilistic classifier</a:t>
            </a:r>
          </a:p>
          <a:p>
            <a:pPr>
              <a:spcAft>
                <a:spcPts val="400"/>
              </a:spcAft>
              <a:defRPr sz="1100">
                <a:solidFill>
                  <a:srgbClr val="0F172A"/>
                </a:solidFill>
              </a:defRPr>
            </a:pPr>
            <a:r>
              <a:t>• L2 Ridge regularization applied</a:t>
            </a:r>
          </a:p>
          <a:p>
            <a:pPr>
              <a:spcAft>
                <a:spcPts val="400"/>
              </a:spcAft>
              <a:defRPr sz="1100">
                <a:solidFill>
                  <a:srgbClr val="0F172A"/>
                </a:solidFill>
              </a:defRPr>
            </a:pPr>
            <a:r>
              <a:t>• Provides well-calibrated probabilities</a:t>
            </a:r>
          </a:p>
          <a:p>
            <a:pPr>
              <a:spcAft>
                <a:spcPts val="400"/>
              </a:spcAft>
              <a:defRPr sz="1100">
                <a:solidFill>
                  <a:srgbClr val="0F172A"/>
                </a:solidFill>
              </a:defRPr>
            </a:pPr>
            <a:r>
              <a:t>• High clinical interpretability</a:t>
            </a:r>
          </a:p>
          <a:p>
            <a:pPr>
              <a:spcAft>
                <a:spcPts val="400"/>
              </a:spcAft>
              <a:defRPr sz="1100">
                <a:solidFill>
                  <a:srgbClr val="0F172A"/>
                </a:solidFill>
              </a:defRPr>
            </a:pPr>
            <a:r>
              <a:t>• Baseline 5-Fold CV: 78.82%</a:t>
            </a:r>
          </a:p>
        </p:txBody>
      </p:sp>
      <p:sp>
        <p:nvSpPr>
          <p:cNvPr id="7" name="Rounded Rectangle 6"/>
          <p:cNvSpPr/>
          <p:nvPr/>
        </p:nvSpPr>
        <p:spPr>
          <a:xfrm>
            <a:off x="4389120" y="1554480"/>
            <a:ext cx="338328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691640"/>
            <a:ext cx="3017520" cy="3657600"/>
          </a:xfrm>
          <a:prstGeom prst="rect">
            <a:avLst/>
          </a:prstGeom>
          <a:noFill/>
        </p:spPr>
        <p:txBody>
          <a:bodyPr wrap="square">
            <a:spAutoFit/>
          </a:bodyPr>
          <a:lstStyle/>
          <a:p>
            <a:pPr>
              <a:defRPr sz="1600" b="1">
                <a:solidFill>
                  <a:srgbClr val="14B8A6"/>
                </a:solidFill>
              </a:defRPr>
            </a:pPr>
            <a:r>
              <a:t>Random Forest</a:t>
            </a:r>
          </a:p>
          <a:p>
            <a:pPr>
              <a:spcAft>
                <a:spcPts val="1000"/>
              </a:spcAft>
              <a:defRPr sz="1100">
                <a:solidFill>
                  <a:srgbClr val="64748B"/>
                </a:solidFill>
              </a:defRPr>
            </a:pPr>
            <a:r>
              <a:t>Bagging Ensemble</a:t>
            </a:r>
          </a:p>
          <a:p>
            <a:pPr>
              <a:spcAft>
                <a:spcPts val="400"/>
              </a:spcAft>
              <a:defRPr sz="1100">
                <a:solidFill>
                  <a:srgbClr val="0F172A"/>
                </a:solidFill>
              </a:defRPr>
            </a:pPr>
            <a:r>
              <a:t>• 100 de-correlated decision trees</a:t>
            </a:r>
          </a:p>
          <a:p>
            <a:pPr>
              <a:spcAft>
                <a:spcPts val="400"/>
              </a:spcAft>
              <a:defRPr sz="1100">
                <a:solidFill>
                  <a:srgbClr val="0F172A"/>
                </a:solidFill>
              </a:defRPr>
            </a:pPr>
            <a:r>
              <a:t>• Captures complex non-linear boundaries</a:t>
            </a:r>
          </a:p>
          <a:p>
            <a:pPr>
              <a:spcAft>
                <a:spcPts val="400"/>
              </a:spcAft>
              <a:defRPr sz="1100">
                <a:solidFill>
                  <a:srgbClr val="0F172A"/>
                </a:solidFill>
              </a:defRPr>
            </a:pPr>
            <a:r>
              <a:t>• Out-of-bag error estimation</a:t>
            </a:r>
          </a:p>
          <a:p>
            <a:pPr>
              <a:spcAft>
                <a:spcPts val="400"/>
              </a:spcAft>
              <a:defRPr sz="1100">
                <a:solidFill>
                  <a:srgbClr val="0F172A"/>
                </a:solidFill>
              </a:defRPr>
            </a:pPr>
            <a:r>
              <a:t>• Robust against feature noise</a:t>
            </a:r>
          </a:p>
          <a:p>
            <a:pPr>
              <a:spcAft>
                <a:spcPts val="400"/>
              </a:spcAft>
              <a:defRPr sz="1100">
                <a:solidFill>
                  <a:srgbClr val="0F172A"/>
                </a:solidFill>
              </a:defRPr>
            </a:pPr>
            <a:r>
              <a:t>• Test Accuracy: 75.32%</a:t>
            </a:r>
          </a:p>
        </p:txBody>
      </p:sp>
      <p:sp>
        <p:nvSpPr>
          <p:cNvPr id="9" name="Rounded Rectangle 8"/>
          <p:cNvSpPr/>
          <p:nvPr/>
        </p:nvSpPr>
        <p:spPr>
          <a:xfrm>
            <a:off x="8046720" y="1554480"/>
            <a:ext cx="3383280" cy="39319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691640"/>
            <a:ext cx="3017520" cy="3657600"/>
          </a:xfrm>
          <a:prstGeom prst="rect">
            <a:avLst/>
          </a:prstGeom>
          <a:noFill/>
        </p:spPr>
        <p:txBody>
          <a:bodyPr wrap="square">
            <a:spAutoFit/>
          </a:bodyPr>
          <a:lstStyle/>
          <a:p>
            <a:pPr>
              <a:defRPr sz="1600" b="1">
                <a:solidFill>
                  <a:srgbClr val="10B981"/>
                </a:solidFill>
              </a:defRPr>
            </a:pPr>
            <a:r>
              <a:t>XGBoost Classifier</a:t>
            </a:r>
          </a:p>
          <a:p>
            <a:pPr>
              <a:spcAft>
                <a:spcPts val="1000"/>
              </a:spcAft>
              <a:defRPr sz="1100">
                <a:solidFill>
                  <a:srgbClr val="64748B"/>
                </a:solidFill>
              </a:defRPr>
            </a:pPr>
            <a:r>
              <a:t>Gradient Boosting 🏆</a:t>
            </a:r>
          </a:p>
          <a:p>
            <a:pPr>
              <a:spcAft>
                <a:spcPts val="400"/>
              </a:spcAft>
              <a:defRPr sz="1100">
                <a:solidFill>
                  <a:srgbClr val="0F172A"/>
                </a:solidFill>
              </a:defRPr>
            </a:pPr>
            <a:r>
              <a:t>• Sequentially minimizes residual loss</a:t>
            </a:r>
          </a:p>
          <a:p>
            <a:pPr>
              <a:spcAft>
                <a:spcPts val="400"/>
              </a:spcAft>
              <a:defRPr sz="1100">
                <a:solidFill>
                  <a:srgbClr val="0F172A"/>
                </a:solidFill>
              </a:defRPr>
            </a:pPr>
            <a:r>
              <a:t>• L1/L2 tree regularization</a:t>
            </a:r>
          </a:p>
          <a:p>
            <a:pPr>
              <a:spcAft>
                <a:spcPts val="400"/>
              </a:spcAft>
              <a:defRPr sz="1100">
                <a:solidFill>
                  <a:srgbClr val="0F172A"/>
                </a:solidFill>
              </a:defRPr>
            </a:pPr>
            <a:r>
              <a:t>• State-of-the-art ROC-AUC (0.8226)</a:t>
            </a:r>
          </a:p>
          <a:p>
            <a:pPr>
              <a:spcAft>
                <a:spcPts val="400"/>
              </a:spcAft>
              <a:defRPr sz="1100">
                <a:solidFill>
                  <a:srgbClr val="0F172A"/>
                </a:solidFill>
              </a:defRPr>
            </a:pPr>
            <a:r>
              <a:t>• Optimal sensitivity (61.11% recall)</a:t>
            </a:r>
          </a:p>
          <a:p>
            <a:pPr>
              <a:spcAft>
                <a:spcPts val="400"/>
              </a:spcAft>
              <a:defRPr sz="1100">
                <a:solidFill>
                  <a:srgbClr val="0F172A"/>
                </a:solidFill>
              </a:defRPr>
            </a:pPr>
            <a:r>
              <a:t>• Chosen production model</a:t>
            </a:r>
          </a:p>
        </p:txBody>
      </p:sp>
      <p:sp>
        <p:nvSpPr>
          <p:cNvPr id="11" name="Rounded Rectangle 10"/>
          <p:cNvSpPr/>
          <p:nvPr/>
        </p:nvSpPr>
        <p:spPr>
          <a:xfrm>
            <a:off x="731520" y="5669280"/>
            <a:ext cx="10728655" cy="73152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760720"/>
            <a:ext cx="10332720" cy="548640"/>
          </a:xfrm>
          <a:prstGeom prst="rect">
            <a:avLst/>
          </a:prstGeom>
          <a:noFill/>
        </p:spPr>
        <p:txBody>
          <a:bodyPr wrap="none">
            <a:spAutoFit/>
          </a:bodyPr>
          <a:lstStyle/>
          <a:p>
            <a:pPr>
              <a:defRPr sz="1200" b="1">
                <a:solidFill>
                  <a:srgbClr val="FFFFFF"/>
                </a:solidFill>
              </a:defRPr>
            </a:pPr>
            <a:r>
              <a:t>Validation Protocol: 80/20 Stratified Split (614 Train / 154 Test)  ➔  Stratified 5-Fold Cross-Validation  ➔  Full Metric Evaluation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Model Performance Benchmarks &amp; Evaluation</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10728655" cy="2286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914400" y="1691640"/>
          <a:ext cx="10351008" cy="1920240"/>
        </p:xfrm>
        <a:graphic>
          <a:graphicData uri="http://schemas.openxmlformats.org/drawingml/2006/table">
            <a:tbl>
              <a:tblPr firstRow="1" bandRow="1">
                <a:tableStyleId>{5C22544A-7EE6-4342-B048-85BDC9FD1C3A}</a:tableStyleId>
              </a:tblPr>
              <a:tblGrid>
                <a:gridCol w="2286000"/>
                <a:gridCol w="1344168"/>
                <a:gridCol w="1344168"/>
                <a:gridCol w="1344168"/>
                <a:gridCol w="1344168"/>
                <a:gridCol w="1344168"/>
                <a:gridCol w="1344168"/>
              </a:tblGrid>
              <a:tr h="480060">
                <a:tc>
                  <a:txBody>
                    <a:bodyPr/>
                    <a:lstStyle/>
                    <a:p>
                      <a:pPr algn="ctr">
                        <a:defRPr sz="1200" b="1">
                          <a:solidFill>
                            <a:srgbClr val="FFFFFF"/>
                          </a:solidFill>
                        </a:defRPr>
                      </a:pPr>
                      <a:r>
                        <a:t>Algorithm</a:t>
                      </a:r>
                    </a:p>
                  </a:txBody>
                  <a:tcPr>
                    <a:solidFill>
                      <a:srgbClr val="1E293B"/>
                    </a:solidFill>
                  </a:tcPr>
                </a:tc>
                <a:tc>
                  <a:txBody>
                    <a:bodyPr/>
                    <a:lstStyle/>
                    <a:p>
                      <a:pPr algn="ctr">
                        <a:defRPr sz="1200" b="1">
                          <a:solidFill>
                            <a:srgbClr val="FFFFFF"/>
                          </a:solidFill>
                        </a:defRPr>
                      </a:pPr>
                      <a:r>
                        <a:t>Accuracy</a:t>
                      </a:r>
                    </a:p>
                  </a:txBody>
                  <a:tcPr>
                    <a:solidFill>
                      <a:srgbClr val="1E293B"/>
                    </a:solidFill>
                  </a:tcPr>
                </a:tc>
                <a:tc>
                  <a:txBody>
                    <a:bodyPr/>
                    <a:lstStyle/>
                    <a:p>
                      <a:pPr algn="ctr">
                        <a:defRPr sz="1200" b="1">
                          <a:solidFill>
                            <a:srgbClr val="FFFFFF"/>
                          </a:solidFill>
                        </a:defRPr>
                      </a:pPr>
                      <a:r>
                        <a:t>Precision</a:t>
                      </a:r>
                    </a:p>
                  </a:txBody>
                  <a:tcPr>
                    <a:solidFill>
                      <a:srgbClr val="1E293B"/>
                    </a:solidFill>
                  </a:tcPr>
                </a:tc>
                <a:tc>
                  <a:txBody>
                    <a:bodyPr/>
                    <a:lstStyle/>
                    <a:p>
                      <a:pPr algn="ctr">
                        <a:defRPr sz="1200" b="1">
                          <a:solidFill>
                            <a:srgbClr val="FFFFFF"/>
                          </a:solidFill>
                        </a:defRPr>
                      </a:pPr>
                      <a:r>
                        <a:t>Recall</a:t>
                      </a:r>
                    </a:p>
                  </a:txBody>
                  <a:tcPr>
                    <a:solidFill>
                      <a:srgbClr val="1E293B"/>
                    </a:solidFill>
                  </a:tcPr>
                </a:tc>
                <a:tc>
                  <a:txBody>
                    <a:bodyPr/>
                    <a:lstStyle/>
                    <a:p>
                      <a:pPr algn="ctr">
                        <a:defRPr sz="1200" b="1">
                          <a:solidFill>
                            <a:srgbClr val="FFFFFF"/>
                          </a:solidFill>
                        </a:defRPr>
                      </a:pPr>
                      <a:r>
                        <a:t>F1 Score</a:t>
                      </a:r>
                    </a:p>
                  </a:txBody>
                  <a:tcPr>
                    <a:solidFill>
                      <a:srgbClr val="1E293B"/>
                    </a:solidFill>
                  </a:tcPr>
                </a:tc>
                <a:tc>
                  <a:txBody>
                    <a:bodyPr/>
                    <a:lstStyle/>
                    <a:p>
                      <a:pPr algn="ctr">
                        <a:defRPr sz="1200" b="1">
                          <a:solidFill>
                            <a:srgbClr val="FFFFFF"/>
                          </a:solidFill>
                        </a:defRPr>
                      </a:pPr>
                      <a:r>
                        <a:t>ROC-AUC</a:t>
                      </a:r>
                    </a:p>
                  </a:txBody>
                  <a:tcPr>
                    <a:solidFill>
                      <a:srgbClr val="1E293B"/>
                    </a:solidFill>
                  </a:tcPr>
                </a:tc>
                <a:tc>
                  <a:txBody>
                    <a:bodyPr/>
                    <a:lstStyle/>
                    <a:p>
                      <a:pPr algn="ctr">
                        <a:defRPr sz="1200" b="1">
                          <a:solidFill>
                            <a:srgbClr val="FFFFFF"/>
                          </a:solidFill>
                        </a:defRPr>
                      </a:pPr>
                      <a:r>
                        <a:t>5-Fold CV</a:t>
                      </a:r>
                    </a:p>
                  </a:txBody>
                  <a:tcPr>
                    <a:solidFill>
                      <a:srgbClr val="1E293B"/>
                    </a:solidFill>
                  </a:tcPr>
                </a:tc>
              </a:tr>
              <a:tr h="480060">
                <a:tc>
                  <a:txBody>
                    <a:bodyPr/>
                    <a:lstStyle/>
                    <a:p>
                      <a:pPr algn="l">
                        <a:defRPr sz="1100" b="1">
                          <a:solidFill>
                            <a:srgbClr val="0F172A"/>
                          </a:solidFill>
                        </a:defRPr>
                      </a:pPr>
                      <a:r>
                        <a:t>XGBoost (Best 🏆)</a:t>
                      </a:r>
                    </a:p>
                  </a:txBody>
                  <a:tcPr>
                    <a:solidFill>
                      <a:srgbClr val="F8FAFC"/>
                    </a:solidFill>
                  </a:tcPr>
                </a:tc>
                <a:tc>
                  <a:txBody>
                    <a:bodyPr/>
                    <a:lstStyle/>
                    <a:p>
                      <a:pPr algn="ctr">
                        <a:defRPr sz="1100" b="1">
                          <a:solidFill>
                            <a:srgbClr val="10B981"/>
                          </a:solidFill>
                        </a:defRPr>
                      </a:pPr>
                      <a:r>
                        <a:t>76.62%</a:t>
                      </a:r>
                    </a:p>
                  </a:txBody>
                  <a:tcPr>
                    <a:solidFill>
                      <a:srgbClr val="F8FAFC"/>
                    </a:solidFill>
                  </a:tcPr>
                </a:tc>
                <a:tc>
                  <a:txBody>
                    <a:bodyPr/>
                    <a:lstStyle/>
                    <a:p>
                      <a:pPr algn="ctr">
                        <a:defRPr sz="1100" b="1">
                          <a:solidFill>
                            <a:srgbClr val="10B981"/>
                          </a:solidFill>
                        </a:defRPr>
                      </a:pPr>
                      <a:r>
                        <a:t>68.75%</a:t>
                      </a:r>
                    </a:p>
                  </a:txBody>
                  <a:tcPr>
                    <a:solidFill>
                      <a:srgbClr val="F8FAFC"/>
                    </a:solidFill>
                  </a:tcPr>
                </a:tc>
                <a:tc>
                  <a:txBody>
                    <a:bodyPr/>
                    <a:lstStyle/>
                    <a:p>
                      <a:pPr algn="ctr">
                        <a:defRPr sz="1100" b="1">
                          <a:solidFill>
                            <a:srgbClr val="0F172A"/>
                          </a:solidFill>
                        </a:defRPr>
                      </a:pPr>
                      <a:r>
                        <a:t>61.11%</a:t>
                      </a:r>
                    </a:p>
                  </a:txBody>
                  <a:tcPr>
                    <a:solidFill>
                      <a:srgbClr val="F8FAFC"/>
                    </a:solidFill>
                  </a:tcPr>
                </a:tc>
                <a:tc>
                  <a:txBody>
                    <a:bodyPr/>
                    <a:lstStyle/>
                    <a:p>
                      <a:pPr algn="ctr">
                        <a:defRPr sz="1100" b="1">
                          <a:solidFill>
                            <a:srgbClr val="10B981"/>
                          </a:solidFill>
                        </a:defRPr>
                      </a:pPr>
                      <a:r>
                        <a:t>64.71%</a:t>
                      </a:r>
                    </a:p>
                  </a:txBody>
                  <a:tcPr>
                    <a:solidFill>
                      <a:srgbClr val="F8FAFC"/>
                    </a:solidFill>
                  </a:tcPr>
                </a:tc>
                <a:tc>
                  <a:txBody>
                    <a:bodyPr/>
                    <a:lstStyle/>
                    <a:p>
                      <a:pPr algn="ctr">
                        <a:defRPr sz="1100" b="1">
                          <a:solidFill>
                            <a:srgbClr val="10B981"/>
                          </a:solidFill>
                        </a:defRPr>
                      </a:pPr>
                      <a:r>
                        <a:t>0.8226</a:t>
                      </a:r>
                    </a:p>
                  </a:txBody>
                  <a:tcPr>
                    <a:solidFill>
                      <a:srgbClr val="F8FAFC"/>
                    </a:solidFill>
                  </a:tcPr>
                </a:tc>
                <a:tc>
                  <a:txBody>
                    <a:bodyPr/>
                    <a:lstStyle/>
                    <a:p>
                      <a:pPr algn="ctr">
                        <a:defRPr sz="1100" b="1">
                          <a:solidFill>
                            <a:srgbClr val="0F172A"/>
                          </a:solidFill>
                        </a:defRPr>
                      </a:pPr>
                      <a:r>
                        <a:t>73.93% ± 3.0%</a:t>
                      </a:r>
                    </a:p>
                  </a:txBody>
                  <a:tcPr>
                    <a:solidFill>
                      <a:srgbClr val="F8FAFC"/>
                    </a:solidFill>
                  </a:tcPr>
                </a:tc>
              </a:tr>
              <a:tr h="480060">
                <a:tc>
                  <a:txBody>
                    <a:bodyPr/>
                    <a:lstStyle/>
                    <a:p>
                      <a:pPr algn="l">
                        <a:defRPr sz="1100" b="0">
                          <a:solidFill>
                            <a:srgbClr val="0F172A"/>
                          </a:solidFill>
                        </a:defRPr>
                      </a:pPr>
                      <a:r>
                        <a:t>Random Forest</a:t>
                      </a:r>
                    </a:p>
                  </a:txBody>
                  <a:tcPr>
                    <a:solidFill>
                      <a:srgbClr val="FFFFFF"/>
                    </a:solidFill>
                  </a:tcPr>
                </a:tc>
                <a:tc>
                  <a:txBody>
                    <a:bodyPr/>
                    <a:lstStyle/>
                    <a:p>
                      <a:pPr algn="ctr">
                        <a:defRPr sz="1100" b="0">
                          <a:solidFill>
                            <a:srgbClr val="0F172A"/>
                          </a:solidFill>
                        </a:defRPr>
                      </a:pPr>
                      <a:r>
                        <a:t>75.32%</a:t>
                      </a:r>
                    </a:p>
                  </a:txBody>
                  <a:tcPr>
                    <a:solidFill>
                      <a:srgbClr val="FFFFFF"/>
                    </a:solidFill>
                  </a:tcPr>
                </a:tc>
                <a:tc>
                  <a:txBody>
                    <a:bodyPr/>
                    <a:lstStyle/>
                    <a:p>
                      <a:pPr algn="ctr">
                        <a:defRPr sz="1100" b="0">
                          <a:solidFill>
                            <a:srgbClr val="0F172A"/>
                          </a:solidFill>
                        </a:defRPr>
                      </a:pPr>
                      <a:r>
                        <a:t>65.38%</a:t>
                      </a:r>
                    </a:p>
                  </a:txBody>
                  <a:tcPr>
                    <a:solidFill>
                      <a:srgbClr val="FFFFFF"/>
                    </a:solidFill>
                  </a:tcPr>
                </a:tc>
                <a:tc>
                  <a:txBody>
                    <a:bodyPr/>
                    <a:lstStyle/>
                    <a:p>
                      <a:pPr algn="ctr">
                        <a:defRPr sz="1100" b="0">
                          <a:solidFill>
                            <a:srgbClr val="0F172A"/>
                          </a:solidFill>
                        </a:defRPr>
                      </a:pPr>
                      <a:r>
                        <a:t>62.96%</a:t>
                      </a:r>
                    </a:p>
                  </a:txBody>
                  <a:tcPr>
                    <a:solidFill>
                      <a:srgbClr val="FFFFFF"/>
                    </a:solidFill>
                  </a:tcPr>
                </a:tc>
                <a:tc>
                  <a:txBody>
                    <a:bodyPr/>
                    <a:lstStyle/>
                    <a:p>
                      <a:pPr algn="ctr">
                        <a:defRPr sz="1100" b="0">
                          <a:solidFill>
                            <a:srgbClr val="0F172A"/>
                          </a:solidFill>
                        </a:defRPr>
                      </a:pPr>
                      <a:r>
                        <a:t>64.15%</a:t>
                      </a:r>
                    </a:p>
                  </a:txBody>
                  <a:tcPr>
                    <a:solidFill>
                      <a:srgbClr val="FFFFFF"/>
                    </a:solidFill>
                  </a:tcPr>
                </a:tc>
                <a:tc>
                  <a:txBody>
                    <a:bodyPr/>
                    <a:lstStyle/>
                    <a:p>
                      <a:pPr algn="ctr">
                        <a:defRPr sz="1100" b="0">
                          <a:solidFill>
                            <a:srgbClr val="0F172A"/>
                          </a:solidFill>
                        </a:defRPr>
                      </a:pPr>
                      <a:r>
                        <a:t>0.8180</a:t>
                      </a:r>
                    </a:p>
                  </a:txBody>
                  <a:tcPr>
                    <a:solidFill>
                      <a:srgbClr val="FFFFFF"/>
                    </a:solidFill>
                  </a:tcPr>
                </a:tc>
                <a:tc>
                  <a:txBody>
                    <a:bodyPr/>
                    <a:lstStyle/>
                    <a:p>
                      <a:pPr algn="ctr">
                        <a:defRPr sz="1100" b="0">
                          <a:solidFill>
                            <a:srgbClr val="0F172A"/>
                          </a:solidFill>
                        </a:defRPr>
                      </a:pPr>
                      <a:r>
                        <a:t>76.22% ± 3.5%</a:t>
                      </a:r>
                    </a:p>
                  </a:txBody>
                  <a:tcPr>
                    <a:solidFill>
                      <a:srgbClr val="FFFFFF"/>
                    </a:solidFill>
                  </a:tcPr>
                </a:tc>
              </a:tr>
              <a:tr h="480060">
                <a:tc>
                  <a:txBody>
                    <a:bodyPr/>
                    <a:lstStyle/>
                    <a:p>
                      <a:pPr algn="l">
                        <a:defRPr sz="1100" b="0">
                          <a:solidFill>
                            <a:srgbClr val="0F172A"/>
                          </a:solidFill>
                        </a:defRPr>
                      </a:pPr>
                      <a:r>
                        <a:t>Logistic Regression</a:t>
                      </a:r>
                    </a:p>
                  </a:txBody>
                  <a:tcPr>
                    <a:solidFill>
                      <a:srgbClr val="F8FAFC"/>
                    </a:solidFill>
                  </a:tcPr>
                </a:tc>
                <a:tc>
                  <a:txBody>
                    <a:bodyPr/>
                    <a:lstStyle/>
                    <a:p>
                      <a:pPr algn="ctr">
                        <a:defRPr sz="1100" b="0">
                          <a:solidFill>
                            <a:srgbClr val="0F172A"/>
                          </a:solidFill>
                        </a:defRPr>
                      </a:pPr>
                      <a:r>
                        <a:t>68.83%</a:t>
                      </a:r>
                    </a:p>
                  </a:txBody>
                  <a:tcPr>
                    <a:solidFill>
                      <a:srgbClr val="F8FAFC"/>
                    </a:solidFill>
                  </a:tcPr>
                </a:tc>
                <a:tc>
                  <a:txBody>
                    <a:bodyPr/>
                    <a:lstStyle/>
                    <a:p>
                      <a:pPr algn="ctr">
                        <a:defRPr sz="1100" b="0">
                          <a:solidFill>
                            <a:srgbClr val="0F172A"/>
                          </a:solidFill>
                        </a:defRPr>
                      </a:pPr>
                      <a:r>
                        <a:t>56.82%</a:t>
                      </a:r>
                    </a:p>
                  </a:txBody>
                  <a:tcPr>
                    <a:solidFill>
                      <a:srgbClr val="F8FAFC"/>
                    </a:solidFill>
                  </a:tcPr>
                </a:tc>
                <a:tc>
                  <a:txBody>
                    <a:bodyPr/>
                    <a:lstStyle/>
                    <a:p>
                      <a:pPr algn="ctr">
                        <a:defRPr sz="1100" b="0">
                          <a:solidFill>
                            <a:srgbClr val="0F172A"/>
                          </a:solidFill>
                        </a:defRPr>
                      </a:pPr>
                      <a:r>
                        <a:t>46.30%</a:t>
                      </a:r>
                    </a:p>
                  </a:txBody>
                  <a:tcPr>
                    <a:solidFill>
                      <a:srgbClr val="F8FAFC"/>
                    </a:solidFill>
                  </a:tcPr>
                </a:tc>
                <a:tc>
                  <a:txBody>
                    <a:bodyPr/>
                    <a:lstStyle/>
                    <a:p>
                      <a:pPr algn="ctr">
                        <a:defRPr sz="1100" b="0">
                          <a:solidFill>
                            <a:srgbClr val="0F172A"/>
                          </a:solidFill>
                        </a:defRPr>
                      </a:pPr>
                      <a:r>
                        <a:t>51.02%</a:t>
                      </a:r>
                    </a:p>
                  </a:txBody>
                  <a:tcPr>
                    <a:solidFill>
                      <a:srgbClr val="F8FAFC"/>
                    </a:solidFill>
                  </a:tcPr>
                </a:tc>
                <a:tc>
                  <a:txBody>
                    <a:bodyPr/>
                    <a:lstStyle/>
                    <a:p>
                      <a:pPr algn="ctr">
                        <a:defRPr sz="1100" b="0">
                          <a:solidFill>
                            <a:srgbClr val="0F172A"/>
                          </a:solidFill>
                        </a:defRPr>
                      </a:pPr>
                      <a:r>
                        <a:t>0.8059</a:t>
                      </a:r>
                    </a:p>
                  </a:txBody>
                  <a:tcPr>
                    <a:solidFill>
                      <a:srgbClr val="F8FAFC"/>
                    </a:solidFill>
                  </a:tcPr>
                </a:tc>
                <a:tc>
                  <a:txBody>
                    <a:bodyPr/>
                    <a:lstStyle/>
                    <a:p>
                      <a:pPr algn="ctr">
                        <a:defRPr sz="1100" b="0">
                          <a:solidFill>
                            <a:srgbClr val="0F172A"/>
                          </a:solidFill>
                        </a:defRPr>
                      </a:pPr>
                      <a:r>
                        <a:t>78.82% ± 2.2%</a:t>
                      </a:r>
                    </a:p>
                  </a:txBody>
                  <a:tcPr>
                    <a:solidFill>
                      <a:srgbClr val="F8FAFC"/>
                    </a:solidFill>
                  </a:tcPr>
                </a:tc>
              </a:tr>
            </a:tbl>
          </a:graphicData>
        </a:graphic>
      </p:graphicFrame>
      <p:sp>
        <p:nvSpPr>
          <p:cNvPr id="7" name="Rounded Rectangle 6"/>
          <p:cNvSpPr/>
          <p:nvPr/>
        </p:nvSpPr>
        <p:spPr>
          <a:xfrm>
            <a:off x="731520" y="4023360"/>
            <a:ext cx="10728655" cy="2377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3_model_benchmarks_table.png"/>
          <p:cNvPicPr>
            <a:picLocks noChangeAspect="1"/>
          </p:cNvPicPr>
          <p:nvPr/>
        </p:nvPicPr>
        <p:blipFill>
          <a:blip r:embed="rId2"/>
          <a:stretch>
            <a:fillRect/>
          </a:stretch>
        </p:blipFill>
        <p:spPr>
          <a:xfrm>
            <a:off x="914400" y="4114800"/>
            <a:ext cx="10332720" cy="490804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Feature Importance &amp; Clinical Explainability</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4864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5120640" cy="4389120"/>
          </a:xfrm>
          <a:prstGeom prst="rect">
            <a:avLst/>
          </a:prstGeom>
          <a:noFill/>
        </p:spPr>
        <p:txBody>
          <a:bodyPr wrap="square">
            <a:spAutoFit/>
          </a:bodyPr>
          <a:lstStyle/>
          <a:p>
            <a:pPr>
              <a:spcAft>
                <a:spcPts val="800"/>
              </a:spcAft>
              <a:defRPr sz="1500" b="1">
                <a:solidFill>
                  <a:srgbClr val="0F172A"/>
                </a:solidFill>
              </a:defRPr>
            </a:pPr>
            <a:r>
              <a:t>Tree Feature Importance Rankings</a:t>
            </a:r>
          </a:p>
          <a:p>
            <a:pPr>
              <a:spcAft>
                <a:spcPts val="500"/>
              </a:spcAft>
              <a:defRPr sz="1100">
                <a:solidFill>
                  <a:srgbClr val="64748B"/>
                </a:solidFill>
              </a:defRPr>
            </a:pPr>
            <a:r>
              <a:t>• 1. Plasma Glucose (~32% importance):</a:t>
            </a:r>
            <a:br/>
            <a:r>
              <a:t>   Overwhelmingly the primary discriminator separating healthy and diabetic patients.</a:t>
            </a:r>
          </a:p>
          <a:p>
            <a:pPr>
              <a:spcAft>
                <a:spcPts val="500"/>
              </a:spcAft>
              <a:defRPr sz="1100">
                <a:solidFill>
                  <a:srgbClr val="64748B"/>
                </a:solidFill>
              </a:defRPr>
            </a:pPr>
            <a:r>
              <a:t>• 2. Body Mass Index (BMI) (~16% importance):</a:t>
            </a:r>
            <a:br/>
            <a:r>
              <a:t>   Second highest risk driver, verifying that excessive adiposity is strongly tied to insulin resistance.</a:t>
            </a:r>
          </a:p>
          <a:p>
            <a:pPr>
              <a:spcAft>
                <a:spcPts val="500"/>
              </a:spcAft>
              <a:defRPr sz="1100">
                <a:solidFill>
                  <a:srgbClr val="64748B"/>
                </a:solidFill>
              </a:defRPr>
            </a:pPr>
            <a:r>
              <a:t>• 3. Age &amp; BMI-Age Interaction (~11%):</a:t>
            </a:r>
            <a:br/>
            <a:r>
              <a:t>   Reflects age-dependent metabolic decline and compounding risk over time.</a:t>
            </a:r>
          </a:p>
          <a:p>
            <a:pPr>
              <a:spcAft>
                <a:spcPts val="500"/>
              </a:spcAft>
              <a:defRPr sz="1100">
                <a:solidFill>
                  <a:srgbClr val="64748B"/>
                </a:solidFill>
              </a:defRPr>
            </a:pPr>
            <a:r>
              <a:t>• 4. Glucose-to-Insulin Ratio (~9%):</a:t>
            </a:r>
            <a:br/>
            <a:r>
              <a:t>   Our engineered biomarker placed in the top 4 predictors, confirming feature engineering success.</a:t>
            </a:r>
          </a:p>
          <a:p>
            <a:pPr>
              <a:spcAft>
                <a:spcPts val="500"/>
              </a:spcAft>
              <a:defRPr sz="1100">
                <a:solidFill>
                  <a:srgbClr val="64748B"/>
                </a:solidFill>
              </a:defRPr>
            </a:pPr>
            <a:r>
              <a:t>• 5. Diabetes Pedigree Function (~8%):</a:t>
            </a:r>
            <a:br/>
            <a:r>
              <a:t>   Quantifies familial hereditary risk.</a:t>
            </a:r>
          </a:p>
          <a:p>
            <a:pPr>
              <a:spcAft>
                <a:spcPts val="500"/>
              </a:spcAft>
              <a:defRPr sz="1100">
                <a:solidFill>
                  <a:srgbClr val="64748B"/>
                </a:solidFill>
              </a:defRPr>
            </a:pPr>
            <a:r>
              <a:t>• Clinical Validation: Models align 100% with American Diabetes Association (ADA) guidelines, preventing 'black box' skepticism.</a:t>
            </a:r>
          </a:p>
        </p:txBody>
      </p:sp>
      <p:sp>
        <p:nvSpPr>
          <p:cNvPr id="7" name="Rounded Rectangle 6"/>
          <p:cNvSpPr/>
          <p:nvPr/>
        </p:nvSpPr>
        <p:spPr>
          <a:xfrm>
            <a:off x="6492240" y="1554480"/>
            <a:ext cx="493776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4_eda_comparison_plots.png"/>
          <p:cNvPicPr>
            <a:picLocks noChangeAspect="1"/>
          </p:cNvPicPr>
          <p:nvPr/>
        </p:nvPicPr>
        <p:blipFill>
          <a:blip r:embed="rId2"/>
          <a:stretch>
            <a:fillRect/>
          </a:stretch>
        </p:blipFill>
        <p:spPr>
          <a:xfrm>
            <a:off x="6675120" y="1737360"/>
            <a:ext cx="4572000" cy="21717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Deployed Web Platform &amp; Executive Dashboard</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41148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3749039" cy="4389120"/>
          </a:xfrm>
          <a:prstGeom prst="rect">
            <a:avLst/>
          </a:prstGeom>
          <a:noFill/>
        </p:spPr>
        <p:txBody>
          <a:bodyPr wrap="square">
            <a:spAutoFit/>
          </a:bodyPr>
          <a:lstStyle/>
          <a:p>
            <a:pPr>
              <a:spcAft>
                <a:spcPts val="800"/>
              </a:spcAft>
              <a:defRPr sz="1500" b="1">
                <a:solidFill>
                  <a:srgbClr val="0F172A"/>
                </a:solidFill>
              </a:defRPr>
            </a:pPr>
            <a:r>
              <a:t>System Architecture &amp; Features</a:t>
            </a:r>
          </a:p>
          <a:p>
            <a:pPr>
              <a:spcAft>
                <a:spcPts val="600"/>
              </a:spcAft>
              <a:defRPr sz="1100">
                <a:solidFill>
                  <a:srgbClr val="64748B"/>
                </a:solidFill>
              </a:defRPr>
            </a:pPr>
            <a:r>
              <a:t>• Zero-Dependency Local Host: Runs on lightweight HTTP server with zero runtime lag.</a:t>
            </a:r>
          </a:p>
          <a:p>
            <a:pPr>
              <a:spcAft>
                <a:spcPts val="600"/>
              </a:spcAft>
              <a:defRPr sz="1100">
                <a:solidFill>
                  <a:srgbClr val="64748B"/>
                </a:solidFill>
              </a:defRPr>
            </a:pPr>
            <a:r>
              <a:t>• Executive KPI Banner: Live display of training size, validation folds, and optimal model badges.</a:t>
            </a:r>
          </a:p>
          <a:p>
            <a:pPr>
              <a:spcAft>
                <a:spcPts val="600"/>
              </a:spcAft>
              <a:defRPr sz="1100">
                <a:solidFill>
                  <a:srgbClr val="64748B"/>
                </a:solidFill>
              </a:defRPr>
            </a:pPr>
            <a:r>
              <a:t>• Interactive Navigation Tabs:</a:t>
            </a:r>
            <a:br/>
            <a:r>
              <a:t>  • Overview &amp; Dataset Stats</a:t>
            </a:r>
            <a:br/>
            <a:r>
              <a:t>  • Interactive EDA Gallery</a:t>
            </a:r>
            <a:br/>
            <a:r>
              <a:t>  • Model Benchmark Table</a:t>
            </a:r>
            <a:br/>
            <a:r>
              <a:t>  • ROC &amp; Confusion Plots</a:t>
            </a:r>
            <a:br/>
            <a:r>
              <a:t>  • Live Clinical Predictor</a:t>
            </a:r>
          </a:p>
          <a:p>
            <a:pPr>
              <a:spcAft>
                <a:spcPts val="600"/>
              </a:spcAft>
              <a:defRPr sz="1100">
                <a:solidFill>
                  <a:srgbClr val="64748B"/>
                </a:solidFill>
              </a:defRPr>
            </a:pPr>
            <a:r>
              <a:t>• Synchronized JSON Pipeline: Pre-compiled weights and evaluations loaded dynamically without heavy server re-computation.</a:t>
            </a:r>
          </a:p>
        </p:txBody>
      </p:sp>
      <p:sp>
        <p:nvSpPr>
          <p:cNvPr id="7" name="Rounded Rectangle 6"/>
          <p:cNvSpPr/>
          <p:nvPr/>
        </p:nvSpPr>
        <p:spPr>
          <a:xfrm>
            <a:off x="5120640" y="1554480"/>
            <a:ext cx="6339535"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_website_hero_overview.png"/>
          <p:cNvPicPr>
            <a:picLocks noChangeAspect="1"/>
          </p:cNvPicPr>
          <p:nvPr/>
        </p:nvPicPr>
        <p:blipFill>
          <a:blip r:embed="rId2"/>
          <a:stretch>
            <a:fillRect/>
          </a:stretch>
        </p:blipFill>
        <p:spPr>
          <a:xfrm>
            <a:off x="5303520" y="1737360"/>
            <a:ext cx="5943600" cy="282321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Interactive Clinical Risk Simulator &amp; Radial Gauge</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411480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3749039" cy="4389120"/>
          </a:xfrm>
          <a:prstGeom prst="rect">
            <a:avLst/>
          </a:prstGeom>
          <a:noFill/>
        </p:spPr>
        <p:txBody>
          <a:bodyPr wrap="square">
            <a:spAutoFit/>
          </a:bodyPr>
          <a:lstStyle/>
          <a:p>
            <a:pPr>
              <a:spcAft>
                <a:spcPts val="800"/>
              </a:spcAft>
              <a:defRPr sz="1500" b="1">
                <a:solidFill>
                  <a:srgbClr val="0F172A"/>
                </a:solidFill>
              </a:defRPr>
            </a:pPr>
            <a:r>
              <a:t>Real-Time Patient Risk Engine</a:t>
            </a:r>
          </a:p>
          <a:p>
            <a:pPr>
              <a:spcAft>
                <a:spcPts val="600"/>
              </a:spcAft>
              <a:defRPr sz="1100">
                <a:solidFill>
                  <a:srgbClr val="64748B"/>
                </a:solidFill>
              </a:defRPr>
            </a:pPr>
            <a:r>
              <a:t>• Biomarker Sliders: Real-time interactive controls for all 8 patient attributes with instant recalibration.</a:t>
            </a:r>
          </a:p>
          <a:p>
            <a:pPr>
              <a:spcAft>
                <a:spcPts val="600"/>
              </a:spcAft>
              <a:defRPr sz="1100">
                <a:solidFill>
                  <a:srgbClr val="64748B"/>
                </a:solidFill>
              </a:defRPr>
            </a:pPr>
            <a:r>
              <a:t>• Clinical Cutoff Badges: Live tags (Normal, Elevated, High) based on clinical criteria (e.g. Glucose ≥126 mg/dL).</a:t>
            </a:r>
          </a:p>
          <a:p>
            <a:pPr>
              <a:spcAft>
                <a:spcPts val="600"/>
              </a:spcAft>
              <a:defRPr sz="1100">
                <a:solidFill>
                  <a:srgbClr val="64748B"/>
                </a:solidFill>
              </a:defRPr>
            </a:pPr>
            <a:r>
              <a:t>• Dynamic Radial Gauge: Glowing SVG risk gauge displaying calibrated risk probability from 0% to 100%.</a:t>
            </a:r>
          </a:p>
          <a:p>
            <a:pPr>
              <a:spcAft>
                <a:spcPts val="600"/>
              </a:spcAft>
              <a:defRPr sz="1100">
                <a:solidFill>
                  <a:srgbClr val="64748B"/>
                </a:solidFill>
              </a:defRPr>
            </a:pPr>
            <a:r>
              <a:t>• Multi-Model Toggle: Allows switching between XGBoost, Random Forest, Logistic Regression, or Consensus Ensemble.</a:t>
            </a:r>
          </a:p>
          <a:p>
            <a:pPr>
              <a:spcAft>
                <a:spcPts val="600"/>
              </a:spcAft>
              <a:defRPr sz="1100">
                <a:solidFill>
                  <a:srgbClr val="64748B"/>
                </a:solidFill>
              </a:defRPr>
            </a:pPr>
            <a:r>
              <a:t>• 1-Click Patient Presets: Healthy Adult, Borderline Prediabetic, High Risk, and Dataset Median.</a:t>
            </a:r>
          </a:p>
        </p:txBody>
      </p:sp>
      <p:sp>
        <p:nvSpPr>
          <p:cNvPr id="7" name="Rounded Rectangle 6"/>
          <p:cNvSpPr/>
          <p:nvPr/>
        </p:nvSpPr>
        <p:spPr>
          <a:xfrm>
            <a:off x="5120640" y="1554480"/>
            <a:ext cx="6339535"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_live_predictor_simulator.png"/>
          <p:cNvPicPr>
            <a:picLocks noChangeAspect="1"/>
          </p:cNvPicPr>
          <p:nvPr/>
        </p:nvPicPr>
        <p:blipFill>
          <a:blip r:embed="rId2"/>
          <a:stretch>
            <a:fillRect/>
          </a:stretch>
        </p:blipFill>
        <p:spPr>
          <a:xfrm>
            <a:off x="5303520" y="1737360"/>
            <a:ext cx="5943600" cy="282321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0EA5E9"/>
                </a:solidFill>
              </a:defRPr>
            </a:pPr>
            <a:r>
              <a:t>DATA SCIENCE &amp; HEALTHCARE ANALYTICS</a:t>
            </a:r>
          </a:p>
        </p:txBody>
      </p:sp>
      <p:sp>
        <p:nvSpPr>
          <p:cNvPr id="3" name="TextBox 2"/>
          <p:cNvSpPr txBox="1"/>
          <p:nvPr/>
        </p:nvSpPr>
        <p:spPr>
          <a:xfrm>
            <a:off x="731520" y="640080"/>
            <a:ext cx="10698480" cy="640080"/>
          </a:xfrm>
          <a:prstGeom prst="rect">
            <a:avLst/>
          </a:prstGeom>
          <a:noFill/>
        </p:spPr>
        <p:txBody>
          <a:bodyPr wrap="square">
            <a:spAutoFit/>
          </a:bodyPr>
          <a:lstStyle/>
          <a:p>
            <a:pPr>
              <a:defRPr sz="2200" b="1">
                <a:solidFill>
                  <a:srgbClr val="0F172A"/>
                </a:solidFill>
              </a:defRPr>
            </a:pPr>
            <a:r>
              <a:t>Project Impact, Key Takeaways &amp; Future Scope</a:t>
            </a:r>
          </a:p>
        </p:txBody>
      </p:sp>
      <p:sp>
        <p:nvSpPr>
          <p:cNvPr id="4" name="Rectangle 3"/>
          <p:cNvSpPr/>
          <p:nvPr/>
        </p:nvSpPr>
        <p:spPr>
          <a:xfrm>
            <a:off x="731520" y="1280160"/>
            <a:ext cx="10728655" cy="18288"/>
          </a:xfrm>
          <a:prstGeom prst="rect">
            <a:avLst/>
          </a:prstGeom>
          <a:solidFill>
            <a:srgbClr val="E2E8F0"/>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54480"/>
            <a:ext cx="5212080"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846320" cy="3566160"/>
          </a:xfrm>
          <a:prstGeom prst="rect">
            <a:avLst/>
          </a:prstGeom>
          <a:noFill/>
        </p:spPr>
        <p:txBody>
          <a:bodyPr wrap="square">
            <a:spAutoFit/>
          </a:bodyPr>
          <a:lstStyle/>
          <a:p>
            <a:pPr>
              <a:spcAft>
                <a:spcPts val="800"/>
              </a:spcAft>
              <a:defRPr sz="1500" b="1">
                <a:solidFill>
                  <a:srgbClr val="10B981"/>
                </a:solidFill>
              </a:defRPr>
            </a:pPr>
            <a:r>
              <a:t>Key Project Achievements</a:t>
            </a:r>
          </a:p>
          <a:p>
            <a:pPr>
              <a:spcAft>
                <a:spcPts val="600"/>
              </a:spcAft>
              <a:defRPr sz="1100">
                <a:solidFill>
                  <a:srgbClr val="0F172A"/>
                </a:solidFill>
              </a:defRPr>
            </a:pPr>
            <a:r>
              <a:t>✔ Robust Preprocessing: Successfully resolved biological zeros using stratified median imputation without losing 50% of patient data.</a:t>
            </a:r>
          </a:p>
          <a:p>
            <a:pPr>
              <a:spcAft>
                <a:spcPts val="600"/>
              </a:spcAft>
              <a:defRPr sz="1100">
                <a:solidFill>
                  <a:srgbClr val="0F172A"/>
                </a:solidFill>
              </a:defRPr>
            </a:pPr>
            <a:r>
              <a:t>✔ Physiological Feature Engineering: Synthesized Glucose-Insulin ratio and BMI-Age interaction to capture metabolic deterioration.</a:t>
            </a:r>
          </a:p>
          <a:p>
            <a:pPr>
              <a:spcAft>
                <a:spcPts val="600"/>
              </a:spcAft>
              <a:defRPr sz="1100">
                <a:solidFill>
                  <a:srgbClr val="0F172A"/>
                </a:solidFill>
              </a:defRPr>
            </a:pPr>
            <a:r>
              <a:t>✔ High-Performance Classification: XGBoost model achieved 76.62% accuracy and 0.8226 ROC-AUC on unseen test data.</a:t>
            </a:r>
          </a:p>
          <a:p>
            <a:pPr>
              <a:spcAft>
                <a:spcPts val="600"/>
              </a:spcAft>
              <a:defRPr sz="1100">
                <a:solidFill>
                  <a:srgbClr val="0F172A"/>
                </a:solidFill>
              </a:defRPr>
            </a:pPr>
            <a:r>
              <a:t>✔ Zero-Friction Clinical Deployment: Shipped a functional web dashboard with live SVG risk gauge and patient presets.</a:t>
            </a:r>
          </a:p>
        </p:txBody>
      </p:sp>
      <p:sp>
        <p:nvSpPr>
          <p:cNvPr id="7" name="Rounded Rectangle 6"/>
          <p:cNvSpPr/>
          <p:nvPr/>
        </p:nvSpPr>
        <p:spPr>
          <a:xfrm>
            <a:off x="6217920" y="1554480"/>
            <a:ext cx="5242255" cy="38404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3566160"/>
          </a:xfrm>
          <a:prstGeom prst="rect">
            <a:avLst/>
          </a:prstGeom>
          <a:noFill/>
        </p:spPr>
        <p:txBody>
          <a:bodyPr wrap="square">
            <a:spAutoFit/>
          </a:bodyPr>
          <a:lstStyle/>
          <a:p>
            <a:pPr>
              <a:spcAft>
                <a:spcPts val="800"/>
              </a:spcAft>
              <a:defRPr sz="1500" b="1">
                <a:solidFill>
                  <a:srgbClr val="0EA5E9"/>
                </a:solidFill>
              </a:defRPr>
            </a:pPr>
            <a:r>
              <a:t>Future Technical &amp; Clinical Roadmap</a:t>
            </a:r>
          </a:p>
          <a:p>
            <a:pPr>
              <a:spcAft>
                <a:spcPts val="600"/>
              </a:spcAft>
              <a:defRPr sz="1100">
                <a:solidFill>
                  <a:srgbClr val="0F172A"/>
                </a:solidFill>
              </a:defRPr>
            </a:pPr>
            <a:r>
              <a:t>➔ SHAP Local Explanations: Embed Shapley Additive exPlanations for patient-specific clinical reports.</a:t>
            </a:r>
          </a:p>
          <a:p>
            <a:pPr>
              <a:spcAft>
                <a:spcPts val="600"/>
              </a:spcAft>
              <a:defRPr sz="1100">
                <a:solidFill>
                  <a:srgbClr val="0F172A"/>
                </a:solidFill>
              </a:defRPr>
            </a:pPr>
            <a:r>
              <a:t>➔ Electronic Health Record (EHR) Integration: Connect with hospital databases via FHIR and HL7 protocols.</a:t>
            </a:r>
          </a:p>
          <a:p>
            <a:pPr>
              <a:spcAft>
                <a:spcPts val="600"/>
              </a:spcAft>
              <a:defRPr sz="1100">
                <a:solidFill>
                  <a:srgbClr val="0F172A"/>
                </a:solidFill>
              </a:defRPr>
            </a:pPr>
            <a:r>
              <a:t>➔ Multi-Ethnic Cohort Training: Expand training data across diverse global demographic populations.</a:t>
            </a:r>
          </a:p>
          <a:p>
            <a:pPr>
              <a:spcAft>
                <a:spcPts val="600"/>
              </a:spcAft>
              <a:defRPr sz="1100">
                <a:solidFill>
                  <a:srgbClr val="0F172A"/>
                </a:solidFill>
              </a:defRPr>
            </a:pPr>
            <a:r>
              <a:t>➔ Wearable &amp; CGM Integration: Ingest real-time time-series streams from Continuous Glucose Monitors and smartwatches.</a:t>
            </a:r>
          </a:p>
        </p:txBody>
      </p:sp>
      <p:sp>
        <p:nvSpPr>
          <p:cNvPr id="9" name="Rounded Rectangle 8"/>
          <p:cNvSpPr/>
          <p:nvPr/>
        </p:nvSpPr>
        <p:spPr>
          <a:xfrm>
            <a:off x="731520" y="5577840"/>
            <a:ext cx="10728655" cy="822960"/>
          </a:xfrm>
          <a:prstGeom prst="round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715000"/>
            <a:ext cx="10332720" cy="548640"/>
          </a:xfrm>
          <a:prstGeom prst="rect">
            <a:avLst/>
          </a:prstGeom>
          <a:noFill/>
        </p:spPr>
        <p:txBody>
          <a:bodyPr wrap="none">
            <a:spAutoFit/>
          </a:bodyPr>
          <a:lstStyle/>
          <a:p>
            <a:pPr algn="ctr">
              <a:defRPr sz="1600" b="1">
                <a:solidFill>
                  <a:srgbClr val="FFFFFF"/>
                </a:solidFill>
              </a:defRPr>
            </a:pPr>
            <a:r>
              <a:t>Thank You!  —  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